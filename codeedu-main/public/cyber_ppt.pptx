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K Grotesk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HK Grotesk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393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97963" y="7123103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70258" y="7123103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6348" y="1360054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57756" y="-797825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648717" y="5559887"/>
            <a:ext cx="6990566" cy="651212"/>
            <a:chOff x="0" y="0"/>
            <a:chExt cx="1841137" cy="1715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1137" cy="171513"/>
            </a:xfrm>
            <a:custGeom>
              <a:avLst/>
              <a:gdLst/>
              <a:ahLst/>
              <a:cxnLst/>
              <a:rect r="r" b="b" t="t" l="l"/>
              <a:pathLst>
                <a:path h="171513" w="1841137">
                  <a:moveTo>
                    <a:pt x="6645" y="0"/>
                  </a:moveTo>
                  <a:lnTo>
                    <a:pt x="1834492" y="0"/>
                  </a:lnTo>
                  <a:cubicBezTo>
                    <a:pt x="1838162" y="0"/>
                    <a:pt x="1841137" y="2975"/>
                    <a:pt x="1841137" y="6645"/>
                  </a:cubicBezTo>
                  <a:lnTo>
                    <a:pt x="1841137" y="164868"/>
                  </a:lnTo>
                  <a:cubicBezTo>
                    <a:pt x="1841137" y="168538"/>
                    <a:pt x="1838162" y="171513"/>
                    <a:pt x="1834492" y="171513"/>
                  </a:cubicBezTo>
                  <a:lnTo>
                    <a:pt x="6645" y="171513"/>
                  </a:lnTo>
                  <a:cubicBezTo>
                    <a:pt x="2975" y="171513"/>
                    <a:pt x="0" y="168538"/>
                    <a:pt x="0" y="164868"/>
                  </a:cubicBezTo>
                  <a:lnTo>
                    <a:pt x="0" y="6645"/>
                  </a:lnTo>
                  <a:cubicBezTo>
                    <a:pt x="0" y="2975"/>
                    <a:pt x="2975" y="0"/>
                    <a:pt x="6645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841137" cy="228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92908" y="3624136"/>
            <a:ext cx="14132706" cy="1519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9"/>
              </a:lnSpc>
            </a:pPr>
            <a:r>
              <a:rPr lang="en-US" b="true" sz="9638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and Cybersecurity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95619" y="5669615"/>
            <a:ext cx="9096763" cy="37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F3F3F2"/>
                </a:solidFill>
                <a:latin typeface="Poppins"/>
                <a:ea typeface="Poppins"/>
                <a:cs typeface="Poppins"/>
                <a:sym typeface="Poppins"/>
              </a:rPr>
              <a:t>How Machine Learning Protects Networks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6350" y="1347492"/>
            <a:ext cx="9035300" cy="88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8"/>
              </a:lnSpc>
            </a:pPr>
            <a:r>
              <a:rPr lang="en-US" b="true" sz="5600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Cyber Threats: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26350" y="2199179"/>
            <a:ext cx="9035300" cy="88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8"/>
              </a:lnSpc>
            </a:pPr>
            <a:r>
              <a:rPr lang="en-US" b="true" sz="56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Evolving Landscape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8385" y="11439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59697" y="7404052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05257" y="7752002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721320" y="4277608"/>
            <a:ext cx="3143730" cy="4195487"/>
            <a:chOff x="0" y="0"/>
            <a:chExt cx="827978" cy="11049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7978" cy="1104984"/>
            </a:xfrm>
            <a:custGeom>
              <a:avLst/>
              <a:gdLst/>
              <a:ahLst/>
              <a:cxnLst/>
              <a:rect r="r" b="b" t="t" l="l"/>
              <a:pathLst>
                <a:path h="1104984" w="827978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72135" y="4277608"/>
            <a:ext cx="3143730" cy="4195487"/>
            <a:chOff x="0" y="0"/>
            <a:chExt cx="827978" cy="1104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7978" cy="1104984"/>
            </a:xfrm>
            <a:custGeom>
              <a:avLst/>
              <a:gdLst/>
              <a:ahLst/>
              <a:cxnLst/>
              <a:rect r="r" b="b" t="t" l="l"/>
              <a:pathLst>
                <a:path h="1104984" w="827978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22950" y="4277608"/>
            <a:ext cx="3143730" cy="4195487"/>
            <a:chOff x="0" y="0"/>
            <a:chExt cx="827978" cy="1104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7978" cy="1104984"/>
            </a:xfrm>
            <a:custGeom>
              <a:avLst/>
              <a:gdLst/>
              <a:ahLst/>
              <a:cxnLst/>
              <a:rect r="r" b="b" t="t" l="l"/>
              <a:pathLst>
                <a:path h="1104984" w="827978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164244" y="6086661"/>
            <a:ext cx="2257882" cy="171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Malware, including viruses, worms, and ransomware, continues to evolve, becoming more sophisticated and difficult to detect.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15059" y="6086661"/>
            <a:ext cx="2257882" cy="171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Phishing attacks, often disguised as legitimate emails or websites, aim to steal sensitive information from unsuspecting users.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65874" y="6086661"/>
            <a:ext cx="2257882" cy="171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Zero-day exploits target vulnerabilities in software before they are patched, making them particularly challenging to defend against.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64244" y="5211136"/>
            <a:ext cx="2257882" cy="40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37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Malware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15059" y="5211136"/>
            <a:ext cx="2257882" cy="40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37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Phishing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24078" y="5211136"/>
            <a:ext cx="2741475" cy="40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37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Zero-Day Exploits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078336" y="1619391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158447" y="821566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215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86879" y="8718754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2" y="0"/>
                </a:lnTo>
                <a:lnTo>
                  <a:pt x="2321052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85258" y="1619391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7" y="0"/>
                </a:lnTo>
                <a:lnTo>
                  <a:pt x="2287217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05444" y="-566950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53409" y="6454820"/>
            <a:ext cx="3720035" cy="463913"/>
            <a:chOff x="0" y="0"/>
            <a:chExt cx="979762" cy="122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9409" y="6454820"/>
            <a:ext cx="3720035" cy="463913"/>
            <a:chOff x="0" y="0"/>
            <a:chExt cx="979762" cy="122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85409" y="6454820"/>
            <a:ext cx="3720035" cy="463913"/>
            <a:chOff x="0" y="0"/>
            <a:chExt cx="979762" cy="1221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9713" y="6309083"/>
            <a:ext cx="755386" cy="7553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35713" y="6309083"/>
            <a:ext cx="755386" cy="75538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01714" y="6309083"/>
            <a:ext cx="755386" cy="7553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496866" y="2698296"/>
            <a:ext cx="8986036" cy="200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b="true" sz="577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Introducing Machine Learning in Cybersecurity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96866" y="7115714"/>
            <a:ext cx="3116026" cy="1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algorithms can analyze massive amounts of data to identify patterns and anomalies that might indicate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malicious activity.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62866" y="7111263"/>
            <a:ext cx="3116026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models can continuously learn and adapt to new threats, providing more effective and proactive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security measures.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31542" y="7115714"/>
            <a:ext cx="3273902" cy="1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can automate tasks such as threat detection, incident response, and security configuration, freeing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 security teams to focus on higher-level activities.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96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Pattern Recognition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62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Adaptive Learning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28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Automation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2833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08834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74834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5771220" y="8103533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7" y="0"/>
                </a:lnTo>
                <a:lnTo>
                  <a:pt x="1442187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3710" y="4536654"/>
            <a:ext cx="664035" cy="471675"/>
            <a:chOff x="0" y="0"/>
            <a:chExt cx="166670" cy="1183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93710" y="6372608"/>
            <a:ext cx="664035" cy="471675"/>
            <a:chOff x="0" y="0"/>
            <a:chExt cx="166670" cy="118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4536654"/>
            <a:ext cx="664035" cy="471675"/>
            <a:chOff x="0" y="0"/>
            <a:chExt cx="166670" cy="1183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17020" y="4536654"/>
            <a:ext cx="5037373" cy="471675"/>
            <a:chOff x="0" y="0"/>
            <a:chExt cx="1264357" cy="118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6906" y="0"/>
                  </a:moveTo>
                  <a:lnTo>
                    <a:pt x="1247452" y="0"/>
                  </a:lnTo>
                  <a:cubicBezTo>
                    <a:pt x="1251935" y="0"/>
                    <a:pt x="1256235" y="1781"/>
                    <a:pt x="1259406" y="4952"/>
                  </a:cubicBezTo>
                  <a:cubicBezTo>
                    <a:pt x="1262576" y="8122"/>
                    <a:pt x="1264357" y="12422"/>
                    <a:pt x="1264357" y="16906"/>
                  </a:cubicBezTo>
                  <a:lnTo>
                    <a:pt x="1264357" y="101482"/>
                  </a:lnTo>
                  <a:cubicBezTo>
                    <a:pt x="1264357" y="110819"/>
                    <a:pt x="1256788" y="118388"/>
                    <a:pt x="1247452" y="118388"/>
                  </a:cubicBezTo>
                  <a:lnTo>
                    <a:pt x="16906" y="118388"/>
                  </a:lnTo>
                  <a:cubicBezTo>
                    <a:pt x="12422" y="118388"/>
                    <a:pt x="8122" y="116607"/>
                    <a:pt x="4952" y="113437"/>
                  </a:cubicBezTo>
                  <a:cubicBezTo>
                    <a:pt x="1781" y="110266"/>
                    <a:pt x="0" y="105966"/>
                    <a:pt x="0" y="101482"/>
                  </a:cubicBezTo>
                  <a:lnTo>
                    <a:pt x="0" y="16906"/>
                  </a:lnTo>
                  <a:cubicBezTo>
                    <a:pt x="0" y="12422"/>
                    <a:pt x="1781" y="8122"/>
                    <a:pt x="4952" y="4952"/>
                  </a:cubicBezTo>
                  <a:cubicBezTo>
                    <a:pt x="8122" y="1781"/>
                    <a:pt x="12422" y="0"/>
                    <a:pt x="16906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17020" y="6372608"/>
            <a:ext cx="5037373" cy="471675"/>
            <a:chOff x="0" y="0"/>
            <a:chExt cx="1264357" cy="1183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6906" y="0"/>
                  </a:moveTo>
                  <a:lnTo>
                    <a:pt x="1247452" y="0"/>
                  </a:lnTo>
                  <a:cubicBezTo>
                    <a:pt x="1251935" y="0"/>
                    <a:pt x="1256235" y="1781"/>
                    <a:pt x="1259406" y="4952"/>
                  </a:cubicBezTo>
                  <a:cubicBezTo>
                    <a:pt x="1262576" y="8122"/>
                    <a:pt x="1264357" y="12422"/>
                    <a:pt x="1264357" y="16906"/>
                  </a:cubicBezTo>
                  <a:lnTo>
                    <a:pt x="1264357" y="101482"/>
                  </a:lnTo>
                  <a:cubicBezTo>
                    <a:pt x="1264357" y="110819"/>
                    <a:pt x="1256788" y="118388"/>
                    <a:pt x="1247452" y="118388"/>
                  </a:cubicBezTo>
                  <a:lnTo>
                    <a:pt x="16906" y="118388"/>
                  </a:lnTo>
                  <a:cubicBezTo>
                    <a:pt x="12422" y="118388"/>
                    <a:pt x="8122" y="116607"/>
                    <a:pt x="4952" y="113437"/>
                  </a:cubicBezTo>
                  <a:cubicBezTo>
                    <a:pt x="1781" y="110266"/>
                    <a:pt x="0" y="105966"/>
                    <a:pt x="0" y="101482"/>
                  </a:cubicBezTo>
                  <a:lnTo>
                    <a:pt x="0" y="16906"/>
                  </a:lnTo>
                  <a:cubicBezTo>
                    <a:pt x="0" y="12422"/>
                    <a:pt x="1781" y="8122"/>
                    <a:pt x="4952" y="4952"/>
                  </a:cubicBezTo>
                  <a:cubicBezTo>
                    <a:pt x="8122" y="1781"/>
                    <a:pt x="12422" y="0"/>
                    <a:pt x="16906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67310" y="4536654"/>
            <a:ext cx="5037373" cy="471675"/>
            <a:chOff x="0" y="0"/>
            <a:chExt cx="1264357" cy="1183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6906" y="0"/>
                  </a:moveTo>
                  <a:lnTo>
                    <a:pt x="1247452" y="0"/>
                  </a:lnTo>
                  <a:cubicBezTo>
                    <a:pt x="1251935" y="0"/>
                    <a:pt x="1256235" y="1781"/>
                    <a:pt x="1259406" y="4952"/>
                  </a:cubicBezTo>
                  <a:cubicBezTo>
                    <a:pt x="1262576" y="8122"/>
                    <a:pt x="1264357" y="12422"/>
                    <a:pt x="1264357" y="16906"/>
                  </a:cubicBezTo>
                  <a:lnTo>
                    <a:pt x="1264357" y="101482"/>
                  </a:lnTo>
                  <a:cubicBezTo>
                    <a:pt x="1264357" y="110819"/>
                    <a:pt x="1256788" y="118388"/>
                    <a:pt x="1247452" y="118388"/>
                  </a:cubicBezTo>
                  <a:lnTo>
                    <a:pt x="16906" y="118388"/>
                  </a:lnTo>
                  <a:cubicBezTo>
                    <a:pt x="12422" y="118388"/>
                    <a:pt x="8122" y="116607"/>
                    <a:pt x="4952" y="113437"/>
                  </a:cubicBezTo>
                  <a:cubicBezTo>
                    <a:pt x="1781" y="110266"/>
                    <a:pt x="0" y="105966"/>
                    <a:pt x="0" y="101482"/>
                  </a:cubicBezTo>
                  <a:lnTo>
                    <a:pt x="0" y="16906"/>
                  </a:lnTo>
                  <a:cubicBezTo>
                    <a:pt x="0" y="12422"/>
                    <a:pt x="1781" y="8122"/>
                    <a:pt x="4952" y="4952"/>
                  </a:cubicBezTo>
                  <a:cubicBezTo>
                    <a:pt x="8122" y="1781"/>
                    <a:pt x="12422" y="0"/>
                    <a:pt x="16906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209543" y="-11028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93710" y="1212023"/>
            <a:ext cx="8986036" cy="200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b="true" sz="577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Limitations of Traditional Security Approaches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041975" y="8717718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12207" y="9024549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055863" y="2856284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6" y="0"/>
                </a:lnTo>
                <a:lnTo>
                  <a:pt x="2287216" y="2287216"/>
                </a:lnTo>
                <a:lnTo>
                  <a:pt x="0" y="228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158447" y="821566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417020" y="5178283"/>
            <a:ext cx="5773206" cy="88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4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Traditional security systems rely on signatures to detect known threats, but they struggle to identify new and evolving threats.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17020" y="7014237"/>
            <a:ext cx="5773206" cy="88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4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analysis of security logs and alerts is time-consuming and prone to human error, making it difficult to respond quickly to threats.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67310" y="5178283"/>
            <a:ext cx="5474665" cy="88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4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Traditional security solutions often struggle to keep pace with the increasing volume and complexity of data generated by modern networks.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57745" y="4557954"/>
            <a:ext cx="4796647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b="true" sz="22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Signature-Based Detection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57745" y="6393907"/>
            <a:ext cx="4796647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b="true" sz="22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Manual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08035" y="4557954"/>
            <a:ext cx="4796647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b="true" sz="22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Limited Scalability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3437" y="1347492"/>
            <a:ext cx="11861126" cy="88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8"/>
              </a:lnSpc>
            </a:pPr>
            <a:r>
              <a:rPr lang="en-US" b="true" sz="5600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ML-based Anomaly Detection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8736" y="2199179"/>
            <a:ext cx="11230528" cy="88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8"/>
              </a:lnSpc>
            </a:pPr>
            <a:r>
              <a:rPr lang="en-US" b="true" sz="56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Identifying Suspicious Activity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89285" y="5717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30445" y="7489205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46685" y="7722672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97030" y="4248278"/>
            <a:ext cx="3143730" cy="4195487"/>
            <a:chOff x="0" y="0"/>
            <a:chExt cx="827978" cy="11049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7978" cy="1104984"/>
            </a:xfrm>
            <a:custGeom>
              <a:avLst/>
              <a:gdLst/>
              <a:ahLst/>
              <a:cxnLst/>
              <a:rect r="r" b="b" t="t" l="l"/>
              <a:pathLst>
                <a:path h="1104984" w="827978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47845" y="4248278"/>
            <a:ext cx="3143730" cy="4195487"/>
            <a:chOff x="0" y="0"/>
            <a:chExt cx="827978" cy="1104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7978" cy="1104984"/>
            </a:xfrm>
            <a:custGeom>
              <a:avLst/>
              <a:gdLst/>
              <a:ahLst/>
              <a:cxnLst/>
              <a:rect r="r" b="b" t="t" l="l"/>
              <a:pathLst>
                <a:path h="1104984" w="827978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98659" y="4248278"/>
            <a:ext cx="3143730" cy="4195487"/>
            <a:chOff x="0" y="0"/>
            <a:chExt cx="827978" cy="1104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7978" cy="1104984"/>
            </a:xfrm>
            <a:custGeom>
              <a:avLst/>
              <a:gdLst/>
              <a:ahLst/>
              <a:cxnLst/>
              <a:rect r="r" b="b" t="t" l="l"/>
              <a:pathLst>
                <a:path h="1104984" w="827978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47240" y="4248278"/>
            <a:ext cx="3143730" cy="4195487"/>
            <a:chOff x="0" y="0"/>
            <a:chExt cx="827978" cy="1104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7978" cy="1104984"/>
            </a:xfrm>
            <a:custGeom>
              <a:avLst/>
              <a:gdLst/>
              <a:ahLst/>
              <a:cxnLst/>
              <a:rect r="r" b="b" t="t" l="l"/>
              <a:pathLst>
                <a:path h="1104984" w="827978">
                  <a:moveTo>
                    <a:pt x="34477" y="0"/>
                  </a:moveTo>
                  <a:lnTo>
                    <a:pt x="793501" y="0"/>
                  </a:lnTo>
                  <a:cubicBezTo>
                    <a:pt x="812543" y="0"/>
                    <a:pt x="827978" y="15436"/>
                    <a:pt x="827978" y="34477"/>
                  </a:cubicBezTo>
                  <a:lnTo>
                    <a:pt x="827978" y="1070507"/>
                  </a:lnTo>
                  <a:cubicBezTo>
                    <a:pt x="827978" y="1089548"/>
                    <a:pt x="812543" y="1104984"/>
                    <a:pt x="793501" y="1104984"/>
                  </a:cubicBezTo>
                  <a:lnTo>
                    <a:pt x="34477" y="1104984"/>
                  </a:lnTo>
                  <a:cubicBezTo>
                    <a:pt x="25333" y="1104984"/>
                    <a:pt x="16564" y="1101352"/>
                    <a:pt x="10098" y="1094886"/>
                  </a:cubicBezTo>
                  <a:cubicBezTo>
                    <a:pt x="3632" y="1088420"/>
                    <a:pt x="0" y="1079651"/>
                    <a:pt x="0" y="1070507"/>
                  </a:cubicBezTo>
                  <a:lnTo>
                    <a:pt x="0" y="34477"/>
                  </a:lnTo>
                  <a:cubicBezTo>
                    <a:pt x="0" y="25333"/>
                    <a:pt x="3632" y="16564"/>
                    <a:pt x="10098" y="10098"/>
                  </a:cubicBezTo>
                  <a:cubicBezTo>
                    <a:pt x="16564" y="3632"/>
                    <a:pt x="25333" y="0"/>
                    <a:pt x="344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FDFB">
                    <a:alpha val="100000"/>
                  </a:srgbClr>
                </a:gs>
                <a:gs pos="100000">
                  <a:srgbClr val="1F447F">
                    <a:alpha val="100000"/>
                  </a:srgbClr>
                </a:gs>
              </a:gsLst>
              <a:lin ang="27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27978" cy="1162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39954" y="6057331"/>
            <a:ext cx="2257882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models collect data from various sources, such as network traffic, logs, and user activity.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90769" y="6057331"/>
            <a:ext cx="2257882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models are trained on historical data to learn normal patterns of network behavior.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41584" y="6057331"/>
            <a:ext cx="2257882" cy="1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trained model can identify deviations from normal behavior, indicating potential malicious activity.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90164" y="6057331"/>
            <a:ext cx="2257882" cy="1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Alerts are triggered when anomalies are detected, enabling security teams to investigate and respond to threats.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39954" y="5181806"/>
            <a:ext cx="2257882" cy="40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37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Collection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90769" y="5181806"/>
            <a:ext cx="2257882" cy="40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37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 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4816" y="5181806"/>
            <a:ext cx="2611417" cy="40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37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Anomaly Detection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13396" y="5181806"/>
            <a:ext cx="2611417" cy="40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37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Alerting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3043229" y="130000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158447" y="821566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215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86879" y="8718754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2" y="0"/>
                </a:lnTo>
                <a:lnTo>
                  <a:pt x="2321052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85258" y="1619391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7" y="0"/>
                </a:lnTo>
                <a:lnTo>
                  <a:pt x="2287217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05444" y="-566950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53409" y="6454820"/>
            <a:ext cx="3720035" cy="463913"/>
            <a:chOff x="0" y="0"/>
            <a:chExt cx="979762" cy="122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9409" y="6454820"/>
            <a:ext cx="3720035" cy="463913"/>
            <a:chOff x="0" y="0"/>
            <a:chExt cx="979762" cy="122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85409" y="6454820"/>
            <a:ext cx="3720035" cy="463913"/>
            <a:chOff x="0" y="0"/>
            <a:chExt cx="979762" cy="1221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9713" y="6309083"/>
            <a:ext cx="755386" cy="7553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35713" y="6309083"/>
            <a:ext cx="755386" cy="75538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01714" y="6309083"/>
            <a:ext cx="755386" cy="7553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496866" y="2698296"/>
            <a:ext cx="9677968" cy="20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b="true" sz="577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Natural Language Processing for Threat Intelligence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96866" y="7111263"/>
            <a:ext cx="3276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algorithms can analyze news articles, social media posts, and other online sources to identify emerging threats and vulnerabilities.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62866" y="7111263"/>
            <a:ext cx="3276578" cy="1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can analyze malware communication channels, such as command-and- control servers, to identify malicious activity and understand attack strategies.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28866" y="7111263"/>
            <a:ext cx="3276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can analyze email content to identify phishing attempts and prevent users from falling victim to these attacks.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96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News Analysis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62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Malware Communication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28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Phishing Detection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2833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08834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74834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5771220" y="8103533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7" y="0"/>
                </a:lnTo>
                <a:lnTo>
                  <a:pt x="1442187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3710" y="4221638"/>
            <a:ext cx="632824" cy="449505"/>
            <a:chOff x="0" y="0"/>
            <a:chExt cx="166670" cy="1183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93710" y="5885069"/>
            <a:ext cx="632824" cy="449505"/>
            <a:chOff x="0" y="0"/>
            <a:chExt cx="166670" cy="118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93710" y="7544281"/>
            <a:ext cx="632824" cy="449505"/>
            <a:chOff x="0" y="0"/>
            <a:chExt cx="166670" cy="1183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97124" y="4221638"/>
            <a:ext cx="4800607" cy="449505"/>
            <a:chOff x="0" y="0"/>
            <a:chExt cx="1264357" cy="118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97124" y="5885069"/>
            <a:ext cx="4800607" cy="449505"/>
            <a:chOff x="0" y="0"/>
            <a:chExt cx="1264357" cy="1183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97124" y="7544281"/>
            <a:ext cx="4800607" cy="449505"/>
            <a:chOff x="0" y="0"/>
            <a:chExt cx="1264357" cy="1183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209543" y="-11028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93710" y="1212023"/>
            <a:ext cx="8986036" cy="20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b="true" sz="577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Computer Vision for Malware Analysis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041975" y="8717718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041975" y="5229662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388244" y="130000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6" y="0"/>
                </a:lnTo>
                <a:lnTo>
                  <a:pt x="2287216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158447" y="821566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397124" y="4820451"/>
            <a:ext cx="5999619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Computer vision can analyze malware images to identify visual patterns and anomalies that may indicate malicious behavior.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97124" y="6486975"/>
            <a:ext cx="5933587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Computer vision can analyze malware code to identify suspicious functions and patterns that might indicate a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malicious intent.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97124" y="8143094"/>
            <a:ext cx="6647962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Computer vision can analyze the behavior of malware on a system, such as file access patterns, to detect and prevent malicious activity.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26535" y="4239698"/>
            <a:ext cx="457119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Image Recognition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26535" y="5903130"/>
            <a:ext cx="457119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Code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26535" y="7562341"/>
            <a:ext cx="457119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Behavior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2156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86879" y="8718754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2" y="0"/>
                </a:lnTo>
                <a:lnTo>
                  <a:pt x="2321052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85258" y="1619391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7" y="0"/>
                </a:lnTo>
                <a:lnTo>
                  <a:pt x="2287217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05444" y="-566950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53409" y="6454820"/>
            <a:ext cx="3720035" cy="463913"/>
            <a:chOff x="0" y="0"/>
            <a:chExt cx="979762" cy="122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9409" y="6454820"/>
            <a:ext cx="3720035" cy="463913"/>
            <a:chOff x="0" y="0"/>
            <a:chExt cx="979762" cy="122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85409" y="6454820"/>
            <a:ext cx="3720035" cy="463913"/>
            <a:chOff x="0" y="0"/>
            <a:chExt cx="979762" cy="1221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9762" cy="122183"/>
            </a:xfrm>
            <a:custGeom>
              <a:avLst/>
              <a:gdLst/>
              <a:ahLst/>
              <a:cxnLst/>
              <a:rect r="r" b="b" t="t" l="l"/>
              <a:pathLst>
                <a:path h="122183" w="979762">
                  <a:moveTo>
                    <a:pt x="22893" y="0"/>
                  </a:moveTo>
                  <a:lnTo>
                    <a:pt x="956870" y="0"/>
                  </a:lnTo>
                  <a:cubicBezTo>
                    <a:pt x="962941" y="0"/>
                    <a:pt x="968764" y="2412"/>
                    <a:pt x="973057" y="6705"/>
                  </a:cubicBezTo>
                  <a:cubicBezTo>
                    <a:pt x="977351" y="10998"/>
                    <a:pt x="979762" y="16821"/>
                    <a:pt x="979762" y="22893"/>
                  </a:cubicBezTo>
                  <a:lnTo>
                    <a:pt x="979762" y="99290"/>
                  </a:lnTo>
                  <a:cubicBezTo>
                    <a:pt x="979762" y="105362"/>
                    <a:pt x="977351" y="111185"/>
                    <a:pt x="973057" y="115478"/>
                  </a:cubicBezTo>
                  <a:cubicBezTo>
                    <a:pt x="968764" y="119771"/>
                    <a:pt x="962941" y="122183"/>
                    <a:pt x="956870" y="122183"/>
                  </a:cubicBezTo>
                  <a:lnTo>
                    <a:pt x="22893" y="122183"/>
                  </a:lnTo>
                  <a:cubicBezTo>
                    <a:pt x="16821" y="122183"/>
                    <a:pt x="10998" y="119771"/>
                    <a:pt x="6705" y="115478"/>
                  </a:cubicBezTo>
                  <a:cubicBezTo>
                    <a:pt x="2412" y="111185"/>
                    <a:pt x="0" y="105362"/>
                    <a:pt x="0" y="99290"/>
                  </a:cubicBezTo>
                  <a:lnTo>
                    <a:pt x="0" y="22893"/>
                  </a:lnTo>
                  <a:cubicBezTo>
                    <a:pt x="0" y="16821"/>
                    <a:pt x="2412" y="10998"/>
                    <a:pt x="6705" y="6705"/>
                  </a:cubicBezTo>
                  <a:cubicBezTo>
                    <a:pt x="10998" y="2412"/>
                    <a:pt x="16821" y="0"/>
                    <a:pt x="22893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9762" cy="17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9713" y="6309083"/>
            <a:ext cx="755386" cy="7553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35713" y="6309083"/>
            <a:ext cx="755386" cy="75538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01714" y="6309083"/>
            <a:ext cx="755386" cy="7553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251979" y="1900625"/>
            <a:ext cx="10532000" cy="20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b="true" sz="577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Importance of Explainable AI in Cybersecurity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96866" y="7111263"/>
            <a:ext cx="3276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Explainable AI helps users understand the reasoning behind AI-driven security decisions, increasing trust and confidence.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62866" y="7111263"/>
            <a:ext cx="3276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Explainable AI enables security teams to audit and verify AI decisions, ensuring that they are reliable and accurate.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28866" y="7111263"/>
            <a:ext cx="3276578" cy="1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Explainable AI facilitates collaboration between human and AI security experts, enabling better decision-making and more effective security practices.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96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Transparency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62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Auditing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28866" y="6480084"/>
            <a:ext cx="311602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Collaboration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2833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08834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74834" y="6422934"/>
            <a:ext cx="609146" cy="5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09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5771220" y="8103533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7" y="0"/>
                </a:lnTo>
                <a:lnTo>
                  <a:pt x="1442187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543" y="-11028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3710" y="1212023"/>
            <a:ext cx="8986036" cy="20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b="true" sz="5771">
                <a:solidFill>
                  <a:srgbClr val="F3F3F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Future Trends: AI-powered Cyber Defense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041975" y="8717718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51126" y="9157150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6" y="0"/>
                </a:lnTo>
                <a:lnTo>
                  <a:pt x="1442186" y="1442187"/>
                </a:lnTo>
                <a:lnTo>
                  <a:pt x="0" y="1442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16842" y="8734635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7" y="0"/>
                </a:lnTo>
                <a:lnTo>
                  <a:pt x="2287217" y="2287217"/>
                </a:lnTo>
                <a:lnTo>
                  <a:pt x="0" y="228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58447" y="821566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0" y="0"/>
                </a:lnTo>
                <a:lnTo>
                  <a:pt x="1595650" y="1595651"/>
                </a:lnTo>
                <a:lnTo>
                  <a:pt x="0" y="159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09543" y="7711994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000836" y="5854129"/>
            <a:ext cx="632824" cy="449505"/>
            <a:chOff x="0" y="0"/>
            <a:chExt cx="166670" cy="118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04249" y="5854129"/>
            <a:ext cx="4800607" cy="449505"/>
            <a:chOff x="0" y="0"/>
            <a:chExt cx="1264357" cy="1183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404249" y="6451696"/>
            <a:ext cx="5999619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AI-powered threat hunting tools will automate the process of identifying and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investigating potential security threats.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51126" y="4213968"/>
            <a:ext cx="632824" cy="449505"/>
            <a:chOff x="0" y="0"/>
            <a:chExt cx="166670" cy="1183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54539" y="4213968"/>
            <a:ext cx="4800607" cy="449505"/>
            <a:chOff x="0" y="0"/>
            <a:chExt cx="1264357" cy="1183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54539" y="4812780"/>
            <a:ext cx="6647962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will enable personalized security solutions, tailoring defense mechanisms to specific users and devices.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3950" y="4232028"/>
            <a:ext cx="457119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Personalized Security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000836" y="4215214"/>
            <a:ext cx="632824" cy="449505"/>
            <a:chOff x="0" y="0"/>
            <a:chExt cx="166670" cy="1183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04249" y="4215214"/>
            <a:ext cx="4800607" cy="449505"/>
            <a:chOff x="0" y="0"/>
            <a:chExt cx="1264357" cy="1183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404249" y="4814027"/>
            <a:ext cx="5999619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will enable proactive defense strategies, anticipating and preventing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threats before they can materialize.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33660" y="4233274"/>
            <a:ext cx="457119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Proactive Defense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33660" y="5896705"/>
            <a:ext cx="457119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Automated Threat Hunting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22310" y="5852883"/>
            <a:ext cx="632824" cy="449505"/>
            <a:chOff x="0" y="0"/>
            <a:chExt cx="166670" cy="1183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6670" cy="118388"/>
            </a:xfrm>
            <a:custGeom>
              <a:avLst/>
              <a:gdLst/>
              <a:ahLst/>
              <a:cxnLst/>
              <a:rect r="r" b="b" t="t" l="l"/>
              <a:pathLst>
                <a:path h="118388" w="166670">
                  <a:moveTo>
                    <a:pt x="59194" y="0"/>
                  </a:moveTo>
                  <a:lnTo>
                    <a:pt x="107476" y="0"/>
                  </a:lnTo>
                  <a:cubicBezTo>
                    <a:pt x="140168" y="0"/>
                    <a:pt x="166670" y="26502"/>
                    <a:pt x="166670" y="59194"/>
                  </a:cubicBezTo>
                  <a:lnTo>
                    <a:pt x="166670" y="59194"/>
                  </a:lnTo>
                  <a:cubicBezTo>
                    <a:pt x="166670" y="74893"/>
                    <a:pt x="160433" y="89950"/>
                    <a:pt x="149332" y="101051"/>
                  </a:cubicBezTo>
                  <a:cubicBezTo>
                    <a:pt x="138231" y="112152"/>
                    <a:pt x="123175" y="118388"/>
                    <a:pt x="107476" y="118388"/>
                  </a:cubicBezTo>
                  <a:lnTo>
                    <a:pt x="59194" y="118388"/>
                  </a:lnTo>
                  <a:cubicBezTo>
                    <a:pt x="43495" y="118388"/>
                    <a:pt x="28439" y="112152"/>
                    <a:pt x="17338" y="101051"/>
                  </a:cubicBezTo>
                  <a:cubicBezTo>
                    <a:pt x="6237" y="89950"/>
                    <a:pt x="0" y="74893"/>
                    <a:pt x="0" y="59194"/>
                  </a:cubicBezTo>
                  <a:lnTo>
                    <a:pt x="0" y="59194"/>
                  </a:lnTo>
                  <a:cubicBezTo>
                    <a:pt x="0" y="43495"/>
                    <a:pt x="6237" y="28439"/>
                    <a:pt x="17338" y="17338"/>
                  </a:cubicBezTo>
                  <a:cubicBezTo>
                    <a:pt x="28439" y="6237"/>
                    <a:pt x="43495" y="0"/>
                    <a:pt x="59194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66670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25724" y="5852883"/>
            <a:ext cx="4800607" cy="449505"/>
            <a:chOff x="0" y="0"/>
            <a:chExt cx="1264357" cy="1183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4357" cy="118388"/>
            </a:xfrm>
            <a:custGeom>
              <a:avLst/>
              <a:gdLst/>
              <a:ahLst/>
              <a:cxnLst/>
              <a:rect r="r" b="b" t="t" l="l"/>
              <a:pathLst>
                <a:path h="118388" w="1264357">
                  <a:moveTo>
                    <a:pt x="17740" y="0"/>
                  </a:moveTo>
                  <a:lnTo>
                    <a:pt x="1246618" y="0"/>
                  </a:lnTo>
                  <a:cubicBezTo>
                    <a:pt x="1251323" y="0"/>
                    <a:pt x="1255835" y="1869"/>
                    <a:pt x="1259162" y="5196"/>
                  </a:cubicBezTo>
                  <a:cubicBezTo>
                    <a:pt x="1262488" y="8523"/>
                    <a:pt x="1264357" y="13035"/>
                    <a:pt x="1264357" y="17740"/>
                  </a:cubicBezTo>
                  <a:lnTo>
                    <a:pt x="1264357" y="100649"/>
                  </a:lnTo>
                  <a:cubicBezTo>
                    <a:pt x="1264357" y="110446"/>
                    <a:pt x="1256415" y="118388"/>
                    <a:pt x="1246618" y="118388"/>
                  </a:cubicBezTo>
                  <a:lnTo>
                    <a:pt x="17740" y="118388"/>
                  </a:lnTo>
                  <a:cubicBezTo>
                    <a:pt x="13035" y="118388"/>
                    <a:pt x="8523" y="116519"/>
                    <a:pt x="5196" y="113192"/>
                  </a:cubicBezTo>
                  <a:cubicBezTo>
                    <a:pt x="1869" y="109866"/>
                    <a:pt x="0" y="105353"/>
                    <a:pt x="0" y="100649"/>
                  </a:cubicBezTo>
                  <a:lnTo>
                    <a:pt x="0" y="17740"/>
                  </a:lnTo>
                  <a:cubicBezTo>
                    <a:pt x="0" y="7942"/>
                    <a:pt x="7942" y="0"/>
                    <a:pt x="17740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264357" cy="175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525724" y="6451696"/>
            <a:ext cx="6647962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AI plays a more prominent role in cybersecurity, it is crucial to address ethical considerations, such as data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privacy and bias.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55135" y="5870943"/>
            <a:ext cx="4571196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Ethical Considerations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393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97963" y="7123103"/>
            <a:ext cx="2321051" cy="2321051"/>
          </a:xfrm>
          <a:custGeom>
            <a:avLst/>
            <a:gdLst/>
            <a:ahLst/>
            <a:cxnLst/>
            <a:rect r="r" b="b" t="t" l="l"/>
            <a:pathLst>
              <a:path h="2321051" w="2321051">
                <a:moveTo>
                  <a:pt x="0" y="0"/>
                </a:moveTo>
                <a:lnTo>
                  <a:pt x="2321051" y="0"/>
                </a:lnTo>
                <a:lnTo>
                  <a:pt x="2321051" y="2321051"/>
                </a:lnTo>
                <a:lnTo>
                  <a:pt x="0" y="232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22407" y="8001968"/>
            <a:ext cx="1442186" cy="1442186"/>
          </a:xfrm>
          <a:custGeom>
            <a:avLst/>
            <a:gdLst/>
            <a:ahLst/>
            <a:cxnLst/>
            <a:rect r="r" b="b" t="t" l="l"/>
            <a:pathLst>
              <a:path h="1442186" w="1442186">
                <a:moveTo>
                  <a:pt x="0" y="0"/>
                </a:moveTo>
                <a:lnTo>
                  <a:pt x="1442186" y="0"/>
                </a:lnTo>
                <a:lnTo>
                  <a:pt x="1442186" y="1442186"/>
                </a:lnTo>
                <a:lnTo>
                  <a:pt x="0" y="144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05923" y="569950"/>
            <a:ext cx="2287216" cy="2287216"/>
          </a:xfrm>
          <a:custGeom>
            <a:avLst/>
            <a:gdLst/>
            <a:ahLst/>
            <a:cxnLst/>
            <a:rect r="r" b="b" t="t" l="l"/>
            <a:pathLst>
              <a:path h="2287216" w="2287216">
                <a:moveTo>
                  <a:pt x="0" y="0"/>
                </a:moveTo>
                <a:lnTo>
                  <a:pt x="2287217" y="0"/>
                </a:lnTo>
                <a:lnTo>
                  <a:pt x="2287217" y="2287216"/>
                </a:lnTo>
                <a:lnTo>
                  <a:pt x="0" y="228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57756" y="-797825"/>
            <a:ext cx="1595650" cy="1595650"/>
          </a:xfrm>
          <a:custGeom>
            <a:avLst/>
            <a:gdLst/>
            <a:ahLst/>
            <a:cxnLst/>
            <a:rect r="r" b="b" t="t" l="l"/>
            <a:pathLst>
              <a:path h="1595650" w="1595650">
                <a:moveTo>
                  <a:pt x="0" y="0"/>
                </a:moveTo>
                <a:lnTo>
                  <a:pt x="1595651" y="0"/>
                </a:lnTo>
                <a:lnTo>
                  <a:pt x="1595651" y="1595650"/>
                </a:lnTo>
                <a:lnTo>
                  <a:pt x="0" y="15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8206" y="9725103"/>
            <a:ext cx="1314702" cy="1314702"/>
          </a:xfrm>
          <a:custGeom>
            <a:avLst/>
            <a:gdLst/>
            <a:ahLst/>
            <a:cxnLst/>
            <a:rect r="r" b="b" t="t" l="l"/>
            <a:pathLst>
              <a:path h="1314702" w="1314702">
                <a:moveTo>
                  <a:pt x="0" y="0"/>
                </a:moveTo>
                <a:lnTo>
                  <a:pt x="1314702" y="0"/>
                </a:lnTo>
                <a:lnTo>
                  <a:pt x="1314702" y="1314702"/>
                </a:lnTo>
                <a:lnTo>
                  <a:pt x="0" y="131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51920" y="1521097"/>
            <a:ext cx="13584160" cy="7244807"/>
            <a:chOff x="0" y="0"/>
            <a:chExt cx="3577721" cy="19080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77721" cy="1908097"/>
            </a:xfrm>
            <a:custGeom>
              <a:avLst/>
              <a:gdLst/>
              <a:ahLst/>
              <a:cxnLst/>
              <a:rect r="r" b="b" t="t" l="l"/>
              <a:pathLst>
                <a:path h="1908097" w="3577721">
                  <a:moveTo>
                    <a:pt x="3420" y="0"/>
                  </a:moveTo>
                  <a:lnTo>
                    <a:pt x="3574302" y="0"/>
                  </a:lnTo>
                  <a:cubicBezTo>
                    <a:pt x="3575209" y="0"/>
                    <a:pt x="3576078" y="360"/>
                    <a:pt x="3576720" y="1002"/>
                  </a:cubicBezTo>
                  <a:cubicBezTo>
                    <a:pt x="3577361" y="1643"/>
                    <a:pt x="3577721" y="2513"/>
                    <a:pt x="3577721" y="3420"/>
                  </a:cubicBezTo>
                  <a:lnTo>
                    <a:pt x="3577721" y="1904678"/>
                  </a:lnTo>
                  <a:cubicBezTo>
                    <a:pt x="3577721" y="1905585"/>
                    <a:pt x="3577361" y="1906454"/>
                    <a:pt x="3576720" y="1907096"/>
                  </a:cubicBezTo>
                  <a:cubicBezTo>
                    <a:pt x="3576078" y="1907737"/>
                    <a:pt x="3575209" y="1908097"/>
                    <a:pt x="3574302" y="1908097"/>
                  </a:cubicBezTo>
                  <a:lnTo>
                    <a:pt x="3420" y="1908097"/>
                  </a:lnTo>
                  <a:cubicBezTo>
                    <a:pt x="2513" y="1908097"/>
                    <a:pt x="1643" y="1907737"/>
                    <a:pt x="1002" y="1907096"/>
                  </a:cubicBezTo>
                  <a:cubicBezTo>
                    <a:pt x="360" y="1906454"/>
                    <a:pt x="0" y="1905585"/>
                    <a:pt x="0" y="1904678"/>
                  </a:cubicBezTo>
                  <a:lnTo>
                    <a:pt x="0" y="3420"/>
                  </a:lnTo>
                  <a:cubicBezTo>
                    <a:pt x="0" y="2513"/>
                    <a:pt x="360" y="1643"/>
                    <a:pt x="1002" y="1002"/>
                  </a:cubicBezTo>
                  <a:cubicBezTo>
                    <a:pt x="1643" y="360"/>
                    <a:pt x="2513" y="0"/>
                    <a:pt x="3420" y="0"/>
                  </a:cubicBezTo>
                  <a:close/>
                </a:path>
              </a:pathLst>
            </a:custGeom>
            <a:solidFill>
              <a:srgbClr val="0CC0DF">
                <a:alpha val="6078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577721" cy="1965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890037" y="3895391"/>
            <a:ext cx="10507926" cy="212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5"/>
              </a:lnSpc>
            </a:pPr>
            <a:r>
              <a:rPr lang="en-US" b="true" sz="13537">
                <a:solidFill>
                  <a:srgbClr val="C1FF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80358" y="5950395"/>
            <a:ext cx="9096763" cy="3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126">
                <a:solidFill>
                  <a:srgbClr val="F3F3F2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DAGypx5NiHk</dc:identifier>
  <dcterms:modified xsi:type="dcterms:W3CDTF">2011-08-01T06:04:30Z</dcterms:modified>
  <cp:revision>1</cp:revision>
  <dc:title>Green and Cyan Modern Animated Tech Presentation</dc:title>
</cp:coreProperties>
</file>